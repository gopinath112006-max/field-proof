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9B0D4"/>
    <a:srgbClr val="9BBB59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7"/>
      </p:cViewPr>
      <p:guideLst>
        <p:guide orient="horz" pos="2223"/>
        <p:guide pos="38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003290" y="0"/>
            <a:ext cx="46647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391600" y="76008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718616" y="20765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850900"/>
            <a:ext cx="8534400" cy="7620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765" y="2076450"/>
            <a:ext cx="7682230" cy="3839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26231</a:t>
            </a:r>
            <a:b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– Digital Companion for Field Drug Testing</a:t>
            </a:r>
            <a:b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– MedTech / BioTech / HealthTech</a:t>
            </a:r>
            <a:b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  <a:b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–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121993</a:t>
            </a:r>
            <a:b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46505A"/>
                </a:solidFill>
              </a:defRPr>
            </a:pPr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HYPERNOVA</a:t>
            </a: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81070" y="11525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43040"/>
            <a:ext cx="12192000" cy="31496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16405" y="0"/>
            <a:ext cx="8063865" cy="1143000"/>
          </a:xfrm>
        </p:spPr>
        <p:txBody>
          <a:bodyPr/>
          <a:lstStyle/>
          <a:p>
            <a:pPr eaLnBrk="1" hangingPunct="1"/>
            <a:r>
              <a:rPr sz="4000" b="1">
                <a:solidFill>
                  <a:srgbClr val="1E376E"/>
                </a:solidFill>
                <a:latin typeface="Garamond" panose="02020404030301010803" pitchFamily="18" charset="0"/>
                <a:cs typeface="Garamond" panose="02020404030301010803" pitchFamily="18" charset="0"/>
              </a:rPr>
              <a:t>Digital Companion for Field Drug Testing</a:t>
            </a:r>
            <a:endParaRPr sz="4000" b="1">
              <a:solidFill>
                <a:srgbClr val="1E376E"/>
              </a:solidFill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endParaRPr lang="en-US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283750"/>
                </a:solidFill>
              </a:defRPr>
            </a:pPr>
            <a:r>
              <a:rPr lang="en-GB" altLang="en-IN" dirty="0"/>
              <a:t>HYPER NOVA</a:t>
            </a:r>
            <a:endParaRPr lang="en-GB" alt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object 7"/>
          <p:cNvSpPr txBox="1"/>
          <p:nvPr/>
        </p:nvSpPr>
        <p:spPr>
          <a:xfrm>
            <a:off x="1564640" y="1305560"/>
            <a:ext cx="2628265" cy="419735"/>
          </a:xfrm>
          <a:prstGeom prst="rect">
            <a:avLst/>
          </a:prstGeom>
          <a:solidFill>
            <a:srgbClr val="C0504D"/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>
              <a:lnSpc>
                <a:spcPct val="100000"/>
              </a:lnSpc>
              <a:spcBef>
                <a:spcPts val="205"/>
              </a:spcBef>
            </a:pPr>
            <a:r>
              <a:rPr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2"/>
          <p:cNvGrpSpPr/>
          <p:nvPr/>
        </p:nvGrpSpPr>
        <p:grpSpPr>
          <a:xfrm>
            <a:off x="5853430" y="1112520"/>
            <a:ext cx="280035" cy="5464810"/>
            <a:chOff x="6047581" y="1365808"/>
            <a:chExt cx="95250" cy="4652010"/>
          </a:xfrm>
        </p:grpSpPr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7581" y="1365808"/>
              <a:ext cx="94932" cy="4651539"/>
            </a:xfrm>
            <a:prstGeom prst="rect">
              <a:avLst/>
            </a:prstGeom>
          </p:spPr>
        </p:pic>
        <p:sp>
          <p:nvSpPr>
            <p:cNvPr id="17" name="object 14"/>
            <p:cNvSpPr/>
            <p:nvPr/>
          </p:nvSpPr>
          <p:spPr>
            <a:xfrm>
              <a:off x="6096000" y="1380744"/>
              <a:ext cx="5080" cy="4583430"/>
            </a:xfrm>
            <a:custGeom>
              <a:avLst/>
              <a:gdLst/>
              <a:ahLst/>
              <a:cxnLst/>
              <a:rect l="l" t="t" r="r" b="b"/>
              <a:pathLst>
                <a:path w="5079" h="4583430">
                  <a:moveTo>
                    <a:pt x="0" y="0"/>
                  </a:moveTo>
                  <a:lnTo>
                    <a:pt x="4572" y="4583379"/>
                  </a:lnTo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7"/>
          <p:cNvSpPr txBox="1"/>
          <p:nvPr/>
        </p:nvSpPr>
        <p:spPr>
          <a:xfrm>
            <a:off x="7793355" y="1307465"/>
            <a:ext cx="2628265" cy="4197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>
              <a:lnSpc>
                <a:spcPct val="100000"/>
              </a:lnSpc>
              <a:spcBef>
                <a:spcPts val="205"/>
              </a:spcBef>
            </a:pPr>
            <a:r>
              <a:rPr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Solution</a:t>
            </a:r>
            <a:endParaRPr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33375" y="1971040"/>
            <a:ext cx="5349240" cy="4368165"/>
          </a:xfrm>
          <a:prstGeom prst="roundRect">
            <a:avLst>
              <a:gd name="adj" fmla="val 12487"/>
            </a:avLst>
          </a:prstGeom>
          <a:solidFill>
            <a:schemeClr val="accent6">
              <a:lumMod val="40000"/>
              <a:lumOff val="60000"/>
              <a:alpha val="99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pPr marL="285750" indent="-285750">
              <a:spcAft>
                <a:spcPts val="500"/>
              </a:spcAft>
              <a:buFont typeface="Wingdings" panose="05000000000000000000" charset="0"/>
              <a:buChar char="v"/>
            </a:pPr>
            <a:r>
              <a:rPr>
                <a:solidFill>
                  <a:schemeClr val="tx1"/>
                </a:solidFill>
              </a:rPr>
              <a:t>• Subjective visual interpretation: colour-change results can vary between officers.</a:t>
            </a:r>
            <a:endParaRPr sz="1800" b="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>
                <a:solidFill>
                  <a:schemeClr val="tx1"/>
                </a:solidFill>
              </a:rPr>
              <a:t>• Incomplete digital traceability: field records may lack consistent time, location and operator details.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>
                <a:solidFill>
                  <a:schemeClr val="tx1"/>
                </a:solidFill>
              </a:rPr>
              <a:t>• Record management: paper-based or unstructured records can be difficult to retrieve and review.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>
                <a:solidFill>
                  <a:schemeClr val="tx1"/>
                </a:solidFill>
              </a:rPr>
              <a:t>• Practical need: a simple digital companion should work alongside existing colour-based field-test kits.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23965" y="1971040"/>
            <a:ext cx="5688965" cy="43726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>
            <a:pPr marL="285750" indent="-285750">
              <a:spcAft>
                <a:spcPts val="500"/>
              </a:spcAft>
              <a:buFont typeface="Wingdings" panose="05000000000000000000" charset="0"/>
              <a:buChar char="v"/>
            </a:pPr>
            <a:r>
              <a:rPr sz="1200">
                <a:solidFill>
                  <a:schemeClr val="tx1"/>
                </a:solidFill>
              </a:rPr>
              <a:t>• Camera-assisted capture: photograph the test result with the reference colour card in-frame.</a:t>
            </a:r>
            <a:endParaRPr sz="1200" b="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chemeClr val="tx1"/>
                </a:solidFill>
              </a:rPr>
              <a:t>• Capture validation: check the image/workflow before saving a record.</a:t>
            </a: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chemeClr val="tx1"/>
                </a:solidFill>
              </a:rPr>
              <a:t>• Safe result handling: the current prototype records an Inconclusive/manual-review outcome when validated classification is unavailable; it does not independently identify drugs.</a:t>
            </a: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chemeClr val="tx1"/>
                </a:solidFill>
              </a:rPr>
              <a:t>• Integrity record: store available timestamp, GPS and operator details with a SHA-256 image hash.</a:t>
            </a: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chemeClr val="tx1"/>
                </a:solidFill>
              </a:rPr>
              <a:t>• Field log: retain searchable test history, with local storage and cloud-sync workflow.</a:t>
            </a: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endParaRPr sz="120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</a:pPr>
            <a:r>
              <a:rPr sz="1200">
                <a:solidFill>
                  <a:schemeClr val="tx1"/>
                </a:solidFill>
              </a:rPr>
              <a:t>• Scope: results are presumptive and do not replace laboratory confirmation.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1069340" y="1865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589395"/>
            <a:ext cx="12192000" cy="26860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2D3C4B"/>
                </a:solidFill>
              </a:rPr>
              <a:t>TECHNICAL APPROACH</a:t>
            </a:r>
            <a:endParaRPr sz="2400" b="1">
              <a:solidFill>
                <a:srgbClr val="2D3C4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90030"/>
            <a:ext cx="3204210" cy="26797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283750"/>
                </a:solidFill>
              </a:defRPr>
            </a:pPr>
            <a:r>
              <a:rPr lang="en-GB" altLang="en-IN" dirty="0"/>
              <a:t>HYPER NOVA</a:t>
            </a:r>
            <a:endParaRPr lang="en-GB" alt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141075" y="4956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050" b="1">
                <a:solidFill>
                  <a:srgbClr val="EBCD5A"/>
                </a:solidFill>
              </a:defRPr>
            </a:pPr>
            <a:r>
              <a:t>Prototype boundary: automated drug classification, digital signing and registered biometric credentials are not fully implemented.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135"/>
            <a:ext cx="5518150" cy="4514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355" y="953135"/>
            <a:ext cx="5518150" cy="451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490" y="953135"/>
            <a:ext cx="4553585" cy="4698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565" y="-105410"/>
            <a:ext cx="10972800" cy="1143000"/>
          </a:xfrm>
        </p:spPr>
        <p:txBody>
          <a:bodyPr/>
          <a:lstStyle/>
          <a:p>
            <a:pPr eaLnBrk="1" hangingPunct="1"/>
            <a:r>
              <a:rPr sz="4000" b="1">
                <a:solidFill>
                  <a:srgbClr val="2D3C4B"/>
                </a:solidFill>
                <a:latin typeface="Garamond" panose="02020404030301010803" pitchFamily="18" charset="0"/>
                <a:cs typeface="Garamond" panose="02020404030301010803" pitchFamily="18" charset="0"/>
              </a:rPr>
              <a:t>FEASIBILITY AND VIABILITY</a:t>
            </a:r>
            <a:endParaRPr sz="4000" b="1">
              <a:solidFill>
                <a:srgbClr val="2D3C4B"/>
              </a:solidFill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283750"/>
                </a:solidFill>
              </a:defRPr>
            </a:pPr>
            <a:r>
              <a:rPr lang="en-GB" altLang="en-IN" dirty="0"/>
              <a:t>HYPER NOVA</a:t>
            </a:r>
            <a:endParaRPr lang="en-GB" alt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object 7"/>
          <p:cNvSpPr txBox="1"/>
          <p:nvPr/>
        </p:nvSpPr>
        <p:spPr>
          <a:xfrm>
            <a:off x="1905635" y="1249680"/>
            <a:ext cx="2607310" cy="419735"/>
          </a:xfrm>
          <a:prstGeom prst="rect">
            <a:avLst/>
          </a:prstGeom>
          <a:solidFill>
            <a:srgbClr val="92D050"/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 algn="ctr">
              <a:lnSpc>
                <a:spcPct val="100000"/>
              </a:lnSpc>
              <a:spcBef>
                <a:spcPts val="205"/>
              </a:spcBef>
            </a:pPr>
            <a:r>
              <a:rPr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sz="2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7945755" y="1282065"/>
            <a:ext cx="2607310" cy="419735"/>
          </a:xfrm>
          <a:prstGeom prst="rect">
            <a:avLst/>
          </a:prstGeom>
          <a:solidFill>
            <a:srgbClr val="00B0F0"/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 algn="ctr">
              <a:lnSpc>
                <a:spcPct val="100000"/>
              </a:lnSpc>
              <a:spcBef>
                <a:spcPts val="205"/>
              </a:spcBef>
            </a:pPr>
            <a:r>
              <a:rPr sz="2200" b="1">
                <a:solidFill>
                  <a:schemeClr val="bg1"/>
                </a:solidFill>
              </a:rPr>
              <a:t>Viability</a:t>
            </a:r>
            <a:endParaRPr sz="2200" b="1">
              <a:solidFill>
                <a:schemeClr val="bg1"/>
              </a:solidFill>
            </a:endParaRPr>
          </a:p>
        </p:txBody>
      </p:sp>
      <p:grpSp>
        <p:nvGrpSpPr>
          <p:cNvPr id="24" name="object 12"/>
          <p:cNvGrpSpPr/>
          <p:nvPr/>
        </p:nvGrpSpPr>
        <p:grpSpPr>
          <a:xfrm>
            <a:off x="5975350" y="1251585"/>
            <a:ext cx="280035" cy="4932045"/>
            <a:chOff x="6047581" y="1365808"/>
            <a:chExt cx="95250" cy="4652010"/>
          </a:xfrm>
        </p:grpSpPr>
        <p:pic>
          <p:nvPicPr>
            <p:cNvPr id="25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7581" y="1365808"/>
              <a:ext cx="94932" cy="4651539"/>
            </a:xfrm>
            <a:prstGeom prst="rect">
              <a:avLst/>
            </a:prstGeom>
          </p:spPr>
        </p:pic>
        <p:sp>
          <p:nvSpPr>
            <p:cNvPr id="26" name="object 14"/>
            <p:cNvSpPr/>
            <p:nvPr/>
          </p:nvSpPr>
          <p:spPr>
            <a:xfrm>
              <a:off x="6096000" y="1380744"/>
              <a:ext cx="5080" cy="4583430"/>
            </a:xfrm>
            <a:custGeom>
              <a:avLst/>
              <a:gdLst/>
              <a:ahLst/>
              <a:cxnLst/>
              <a:rect l="l" t="t" r="r" b="b"/>
              <a:pathLst>
                <a:path w="5079" h="4583430">
                  <a:moveTo>
                    <a:pt x="0" y="0"/>
                  </a:moveTo>
                  <a:lnTo>
                    <a:pt x="4572" y="4583379"/>
                  </a:lnTo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350" y="1884045"/>
            <a:ext cx="5518150" cy="4470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5" y="1776730"/>
            <a:ext cx="551815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514465"/>
            <a:ext cx="12192000" cy="34353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4000" b="1">
                <a:solidFill>
                  <a:srgbClr val="2D3C4B"/>
                </a:solidFill>
                <a:latin typeface="Garamond" panose="02020404030301010803" pitchFamily="18" charset="0"/>
                <a:cs typeface="Garamond" panose="02020404030301010803" pitchFamily="18" charset="0"/>
              </a:rPr>
              <a:t>IMPACT AND BENEFITS</a:t>
            </a:r>
            <a:endParaRPr sz="4000" b="1">
              <a:solidFill>
                <a:srgbClr val="2D3C4B"/>
              </a:solidFill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7955"/>
            <a:ext cx="3204210" cy="35750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283750"/>
                </a:solidFill>
              </a:defRPr>
            </a:pPr>
            <a:r>
              <a:rPr lang="en-GB" altLang="en-IN" dirty="0"/>
              <a:t>HYPER NOVA</a:t>
            </a:r>
            <a:endParaRPr lang="en-GB" alt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object 7"/>
          <p:cNvSpPr txBox="1"/>
          <p:nvPr/>
        </p:nvSpPr>
        <p:spPr>
          <a:xfrm>
            <a:off x="1585595" y="1251585"/>
            <a:ext cx="2607310" cy="4197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 algn="ctr">
              <a:lnSpc>
                <a:spcPct val="100000"/>
              </a:lnSpc>
              <a:spcBef>
                <a:spcPts val="205"/>
              </a:spcBef>
            </a:pPr>
            <a:r>
              <a: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7"/>
          <p:cNvSpPr txBox="1"/>
          <p:nvPr/>
        </p:nvSpPr>
        <p:spPr>
          <a:xfrm>
            <a:off x="7851775" y="1173480"/>
            <a:ext cx="2462530" cy="41973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9624">
            <a:solidFill>
              <a:srgbClr val="FFFFFF"/>
            </a:solidFill>
          </a:ln>
        </p:spPr>
        <p:txBody>
          <a:bodyPr vert="horz" wrap="square" lIns="0" tIns="26034" rIns="0" bIns="0" rtlCol="0">
            <a:noAutofit/>
          </a:bodyPr>
          <a:lstStyle/>
          <a:p>
            <a:pPr marL="281940" algn="ctr">
              <a:lnSpc>
                <a:spcPct val="100000"/>
              </a:lnSpc>
              <a:spcBef>
                <a:spcPts val="205"/>
              </a:spcBef>
            </a:pPr>
            <a:r>
              <a:rPr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sz="2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object 12"/>
          <p:cNvGrpSpPr/>
          <p:nvPr/>
        </p:nvGrpSpPr>
        <p:grpSpPr>
          <a:xfrm>
            <a:off x="5975350" y="1251585"/>
            <a:ext cx="280035" cy="4932045"/>
            <a:chOff x="6047581" y="1365808"/>
            <a:chExt cx="95250" cy="4652010"/>
          </a:xfrm>
        </p:grpSpPr>
        <p:pic>
          <p:nvPicPr>
            <p:cNvPr id="25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7581" y="1365808"/>
              <a:ext cx="94932" cy="4651539"/>
            </a:xfrm>
            <a:prstGeom prst="rect">
              <a:avLst/>
            </a:prstGeom>
          </p:spPr>
        </p:pic>
        <p:sp>
          <p:nvSpPr>
            <p:cNvPr id="26" name="object 14"/>
            <p:cNvSpPr/>
            <p:nvPr/>
          </p:nvSpPr>
          <p:spPr>
            <a:xfrm>
              <a:off x="6096000" y="1380744"/>
              <a:ext cx="5080" cy="4583430"/>
            </a:xfrm>
            <a:custGeom>
              <a:avLst/>
              <a:gdLst/>
              <a:ahLst/>
              <a:cxnLst/>
              <a:rect l="l" t="t" r="r" b="b"/>
              <a:pathLst>
                <a:path w="5079" h="4583430">
                  <a:moveTo>
                    <a:pt x="0" y="0"/>
                  </a:moveTo>
                  <a:lnTo>
                    <a:pt x="4572" y="4583379"/>
                  </a:lnTo>
                </a:path>
              </a:pathLst>
            </a:custGeom>
            <a:ln w="2438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65" y="1810385"/>
            <a:ext cx="5518150" cy="4470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85" y="1753870"/>
            <a:ext cx="551815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400" b="1">
                <a:solidFill>
                  <a:srgbClr val="2D3C4B"/>
                </a:solidFill>
              </a:rPr>
              <a:t>RESEARCH AND REFERENCES</a:t>
            </a:r>
            <a:endParaRPr sz="2400" b="1">
              <a:solidFill>
                <a:srgbClr val="2D3C4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283750"/>
                </a:solidFill>
              </a:defRPr>
            </a:pPr>
            <a:r>
              <a:rPr lang="en-GB" altLang="en-IN" dirty="0"/>
              <a:t>HYPER NOVA</a:t>
            </a:r>
            <a:endParaRPr lang="en-GB" alt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object 61"/>
          <p:cNvSpPr/>
          <p:nvPr/>
        </p:nvSpPr>
        <p:spPr>
          <a:xfrm>
            <a:off x="297170" y="2599277"/>
            <a:ext cx="1765305" cy="876512"/>
          </a:xfrm>
          <a:custGeom>
            <a:avLst/>
            <a:gdLst/>
            <a:ahLst/>
            <a:cxnLst/>
            <a:rect l="l" t="t" r="r" b="b"/>
            <a:pathLst>
              <a:path w="2526030" h="1263014">
                <a:moveTo>
                  <a:pt x="1894207" y="1262805"/>
                </a:moveTo>
                <a:lnTo>
                  <a:pt x="0" y="1262805"/>
                </a:lnTo>
                <a:lnTo>
                  <a:pt x="631402" y="631402"/>
                </a:lnTo>
                <a:lnTo>
                  <a:pt x="0" y="0"/>
                </a:lnTo>
                <a:lnTo>
                  <a:pt x="1894207" y="0"/>
                </a:lnTo>
                <a:lnTo>
                  <a:pt x="2525610" y="631402"/>
                </a:lnTo>
                <a:lnTo>
                  <a:pt x="1894207" y="1262805"/>
                </a:lnTo>
                <a:close/>
              </a:path>
            </a:pathLst>
          </a:custGeom>
          <a:solidFill>
            <a:srgbClr val="0061B4"/>
          </a:solidFill>
        </p:spPr>
        <p:txBody>
          <a:bodyPr wrap="square" lIns="0" tIns="0" rIns="0" bIns="0" rtlCol="0"/>
          <a:lstStyle/>
          <a:p>
            <a:r>
              <a:rPr lang="en-IN" dirty="0"/>
              <a:t>            </a:t>
            </a:r>
            <a:r>
              <a:rPr lang="en-IN" sz="2000" dirty="0">
                <a:solidFill>
                  <a:schemeClr val="bg1"/>
                </a:solidFill>
              </a:rPr>
              <a:t>2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24" name="object 61"/>
          <p:cNvSpPr/>
          <p:nvPr/>
        </p:nvSpPr>
        <p:spPr>
          <a:xfrm>
            <a:off x="362881" y="3817508"/>
            <a:ext cx="1684024" cy="931941"/>
          </a:xfrm>
          <a:custGeom>
            <a:avLst/>
            <a:gdLst/>
            <a:ahLst/>
            <a:cxnLst/>
            <a:rect l="l" t="t" r="r" b="b"/>
            <a:pathLst>
              <a:path w="2526030" h="1263014">
                <a:moveTo>
                  <a:pt x="1894207" y="1262805"/>
                </a:moveTo>
                <a:lnTo>
                  <a:pt x="0" y="1262805"/>
                </a:lnTo>
                <a:lnTo>
                  <a:pt x="631402" y="631402"/>
                </a:lnTo>
                <a:lnTo>
                  <a:pt x="0" y="0"/>
                </a:lnTo>
                <a:lnTo>
                  <a:pt x="1894207" y="0"/>
                </a:lnTo>
                <a:lnTo>
                  <a:pt x="2525610" y="631402"/>
                </a:lnTo>
                <a:lnTo>
                  <a:pt x="1894207" y="1262805"/>
                </a:lnTo>
                <a:close/>
              </a:path>
            </a:pathLst>
          </a:custGeom>
          <a:solidFill>
            <a:srgbClr val="0061B4"/>
          </a:solidFill>
        </p:spPr>
        <p:txBody>
          <a:bodyPr wrap="square" lIns="0" tIns="0" rIns="0" bIns="0" rtlCol="0"/>
          <a:lstStyle/>
          <a:p>
            <a:r>
              <a:rPr lang="en-IN" dirty="0"/>
              <a:t>            </a:t>
            </a:r>
            <a:r>
              <a:rPr lang="en-IN" sz="2000" dirty="0">
                <a:solidFill>
                  <a:schemeClr val="bg1"/>
                </a:solidFill>
              </a:rPr>
              <a:t>3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28" name="object 61"/>
          <p:cNvSpPr/>
          <p:nvPr/>
        </p:nvSpPr>
        <p:spPr>
          <a:xfrm>
            <a:off x="325570" y="1330461"/>
            <a:ext cx="1777547" cy="931940"/>
          </a:xfrm>
          <a:custGeom>
            <a:avLst/>
            <a:gdLst/>
            <a:ahLst/>
            <a:cxnLst/>
            <a:rect l="l" t="t" r="r" b="b"/>
            <a:pathLst>
              <a:path w="2526030" h="1263014">
                <a:moveTo>
                  <a:pt x="1894207" y="1262805"/>
                </a:moveTo>
                <a:lnTo>
                  <a:pt x="0" y="1262805"/>
                </a:lnTo>
                <a:lnTo>
                  <a:pt x="631402" y="631402"/>
                </a:lnTo>
                <a:lnTo>
                  <a:pt x="0" y="0"/>
                </a:lnTo>
                <a:lnTo>
                  <a:pt x="1894207" y="0"/>
                </a:lnTo>
                <a:lnTo>
                  <a:pt x="2525610" y="631402"/>
                </a:lnTo>
                <a:lnTo>
                  <a:pt x="1894207" y="1262805"/>
                </a:lnTo>
                <a:close/>
              </a:path>
            </a:pathLst>
          </a:custGeom>
          <a:solidFill>
            <a:srgbClr val="0061B4"/>
          </a:solidFill>
        </p:spPr>
        <p:txBody>
          <a:bodyPr wrap="square" lIns="0" tIns="0" rIns="0" bIns="0" rtlCol="0"/>
          <a:lstStyle/>
          <a:p>
            <a:r>
              <a:rPr lang="en-IN" sz="2000" dirty="0"/>
              <a:t>      </a:t>
            </a:r>
            <a:r>
              <a:rPr lang="en-IN" sz="2000" dirty="0">
                <a:solidFill>
                  <a:schemeClr val="bg1"/>
                </a:solidFill>
              </a:rPr>
              <a:t>1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31" name="object 61"/>
          <p:cNvSpPr/>
          <p:nvPr/>
        </p:nvSpPr>
        <p:spPr>
          <a:xfrm>
            <a:off x="362881" y="5101777"/>
            <a:ext cx="1777547" cy="931940"/>
          </a:xfrm>
          <a:custGeom>
            <a:avLst/>
            <a:gdLst/>
            <a:ahLst/>
            <a:cxnLst/>
            <a:rect l="l" t="t" r="r" b="b"/>
            <a:pathLst>
              <a:path w="2526030" h="1263014">
                <a:moveTo>
                  <a:pt x="1894207" y="1262805"/>
                </a:moveTo>
                <a:lnTo>
                  <a:pt x="0" y="1262805"/>
                </a:lnTo>
                <a:lnTo>
                  <a:pt x="631402" y="631402"/>
                </a:lnTo>
                <a:lnTo>
                  <a:pt x="0" y="0"/>
                </a:lnTo>
                <a:lnTo>
                  <a:pt x="1894207" y="0"/>
                </a:lnTo>
                <a:lnTo>
                  <a:pt x="2525610" y="631402"/>
                </a:lnTo>
                <a:lnTo>
                  <a:pt x="1894207" y="1262805"/>
                </a:lnTo>
                <a:close/>
              </a:path>
            </a:pathLst>
          </a:custGeom>
          <a:solidFill>
            <a:srgbClr val="0061B4"/>
          </a:solidFill>
        </p:spPr>
        <p:txBody>
          <a:bodyPr wrap="square" lIns="0" tIns="0" rIns="0" bIns="0" rtlCol="0"/>
          <a:lstStyle/>
          <a:p>
            <a:r>
              <a:rPr lang="en-IN" sz="2000" dirty="0"/>
              <a:t>      </a:t>
            </a:r>
            <a:r>
              <a:rPr lang="en-IN" sz="2000" dirty="0">
                <a:solidFill>
                  <a:schemeClr val="bg1"/>
                </a:solidFill>
              </a:rPr>
              <a:t>4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33" name="object 67"/>
          <p:cNvSpPr txBox="1"/>
          <p:nvPr/>
        </p:nvSpPr>
        <p:spPr>
          <a:xfrm>
            <a:off x="2917235" y="1238907"/>
            <a:ext cx="3757881" cy="1115049"/>
          </a:xfrm>
          <a:prstGeom prst="rect">
            <a:avLst/>
          </a:prstGeom>
          <a:ln w="38099">
            <a:solidFill>
              <a:srgbClr val="0061B4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9535" marR="98425">
              <a:lnSpc>
                <a:spcPct val="100000"/>
              </a:lnSpc>
              <a:spcBef>
                <a:spcPts val="55"/>
              </a:spcBef>
            </a:pPr>
            <a:r>
              <a:rPr sz="1600" b="0">
                <a:solidFill>
                  <a:srgbClr val="232D3C"/>
                </a:solidFill>
              </a:rPr>
              <a:t>Smart India Hackathon 2026 — Problem Statement ID 26231: Digital Companion for Field Drug Testing</a:t>
            </a:r>
            <a:endParaRPr lang="en-US" sz="2400" dirty="0">
              <a:latin typeface="Arial MT"/>
              <a:cs typeface="Arial MT"/>
            </a:endParaRPr>
          </a:p>
        </p:txBody>
      </p:sp>
      <p:sp>
        <p:nvSpPr>
          <p:cNvPr id="38" name="object 67"/>
          <p:cNvSpPr txBox="1"/>
          <p:nvPr/>
        </p:nvSpPr>
        <p:spPr>
          <a:xfrm>
            <a:off x="2917237" y="2489268"/>
            <a:ext cx="3798521" cy="1115049"/>
          </a:xfrm>
          <a:prstGeom prst="rect">
            <a:avLst/>
          </a:prstGeom>
          <a:ln w="38099">
            <a:solidFill>
              <a:srgbClr val="0061B4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9535" marR="98425">
              <a:lnSpc>
                <a:spcPct val="100000"/>
              </a:lnSpc>
              <a:spcBef>
                <a:spcPts val="55"/>
              </a:spcBef>
            </a:pPr>
            <a:r>
              <a:rPr sz="1600" b="0">
                <a:solidFill>
                  <a:srgbClr val="232D3C"/>
                </a:solidFill>
              </a:rPr>
              <a:t>Ministry of Home Affairs — Narcotics Control Bureau — problem statement brief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0" name="object 67"/>
          <p:cNvSpPr txBox="1"/>
          <p:nvPr/>
        </p:nvSpPr>
        <p:spPr>
          <a:xfrm>
            <a:off x="2917236" y="3784822"/>
            <a:ext cx="3757881" cy="1115049"/>
          </a:xfrm>
          <a:prstGeom prst="rect">
            <a:avLst/>
          </a:prstGeom>
          <a:ln w="38099">
            <a:solidFill>
              <a:srgbClr val="0061B4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9535" marR="98425">
              <a:lnSpc>
                <a:spcPct val="100000"/>
              </a:lnSpc>
              <a:spcBef>
                <a:spcPts val="55"/>
              </a:spcBef>
              <a:spcAft>
                <a:spcPts val="500"/>
              </a:spcAft>
            </a:pPr>
            <a:r>
              <a:t>PS 26231 target deliverables: image capture, automated classification and a signed digital record (implementation gaps are stated on the Technical Approach slide).</a:t>
            </a:r>
            <a:endParaRPr lang="en-IN" sz="2400" dirty="0">
              <a:latin typeface="Arial MT"/>
              <a:cs typeface="Arial MT"/>
            </a:endParaRPr>
          </a:p>
        </p:txBody>
      </p:sp>
      <p:sp>
        <p:nvSpPr>
          <p:cNvPr id="42" name="object 67"/>
          <p:cNvSpPr txBox="1"/>
          <p:nvPr/>
        </p:nvSpPr>
        <p:spPr>
          <a:xfrm>
            <a:off x="2927396" y="5053364"/>
            <a:ext cx="3778202" cy="1115049"/>
          </a:xfrm>
          <a:prstGeom prst="rect">
            <a:avLst/>
          </a:prstGeom>
          <a:ln w="38099">
            <a:solidFill>
              <a:srgbClr val="0061B4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9535" marR="98425">
              <a:lnSpc>
                <a:spcPct val="100000"/>
              </a:lnSpc>
              <a:spcBef>
                <a:spcPts val="55"/>
              </a:spcBef>
            </a:pPr>
            <a:r>
              <a:rPr sz="1600" b="0">
                <a:solidFill>
                  <a:srgbClr val="232D3C"/>
                </a:solidFill>
              </a:rPr>
              <a:t>Participant Note in PS 26231: output is a presumptive field-test result and does not replace laboratory confirmatory testing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4" name="object 13"/>
          <p:cNvSpPr/>
          <p:nvPr/>
        </p:nvSpPr>
        <p:spPr>
          <a:xfrm>
            <a:off x="6957548" y="1166349"/>
            <a:ext cx="1063371" cy="1040130"/>
          </a:xfrm>
          <a:custGeom>
            <a:avLst/>
            <a:gdLst/>
            <a:ahLst/>
            <a:cxnLst/>
            <a:rect l="l" t="t" r="r" b="b"/>
            <a:pathLst>
              <a:path w="1752600" h="1040130">
                <a:moveTo>
                  <a:pt x="893269" y="1039745"/>
                </a:moveTo>
                <a:lnTo>
                  <a:pt x="887359" y="1039745"/>
                </a:lnTo>
                <a:lnTo>
                  <a:pt x="882251" y="1036690"/>
                </a:lnTo>
                <a:lnTo>
                  <a:pt x="879607" y="1031787"/>
                </a:lnTo>
                <a:lnTo>
                  <a:pt x="876903" y="1026682"/>
                </a:lnTo>
                <a:lnTo>
                  <a:pt x="877243" y="1020633"/>
                </a:lnTo>
                <a:lnTo>
                  <a:pt x="1065889" y="748459"/>
                </a:lnTo>
                <a:lnTo>
                  <a:pt x="16526" y="764736"/>
                </a:lnTo>
                <a:lnTo>
                  <a:pt x="10136" y="764636"/>
                </a:lnTo>
                <a:lnTo>
                  <a:pt x="4867" y="761180"/>
                </a:lnTo>
                <a:lnTo>
                  <a:pt x="0" y="750147"/>
                </a:lnTo>
                <a:lnTo>
                  <a:pt x="1081" y="743656"/>
                </a:lnTo>
                <a:lnTo>
                  <a:pt x="208578" y="520153"/>
                </a:lnTo>
                <a:lnTo>
                  <a:pt x="1101" y="296630"/>
                </a:lnTo>
                <a:lnTo>
                  <a:pt x="20" y="290159"/>
                </a:lnTo>
                <a:lnTo>
                  <a:pt x="4807" y="279288"/>
                </a:lnTo>
                <a:lnTo>
                  <a:pt x="9996" y="275831"/>
                </a:lnTo>
                <a:lnTo>
                  <a:pt x="15965" y="275570"/>
                </a:lnTo>
                <a:lnTo>
                  <a:pt x="1065909" y="291847"/>
                </a:lnTo>
                <a:lnTo>
                  <a:pt x="877263" y="19673"/>
                </a:lnTo>
                <a:lnTo>
                  <a:pt x="876903" y="13604"/>
                </a:lnTo>
                <a:lnTo>
                  <a:pt x="882512" y="3175"/>
                </a:lnTo>
                <a:lnTo>
                  <a:pt x="888041" y="0"/>
                </a:lnTo>
                <a:lnTo>
                  <a:pt x="893990" y="602"/>
                </a:lnTo>
                <a:lnTo>
                  <a:pt x="1290394" y="10087"/>
                </a:lnTo>
                <a:lnTo>
                  <a:pt x="1294320" y="11896"/>
                </a:lnTo>
                <a:lnTo>
                  <a:pt x="1747395" y="508478"/>
                </a:lnTo>
                <a:lnTo>
                  <a:pt x="1750910" y="514071"/>
                </a:lnTo>
                <a:lnTo>
                  <a:pt x="1752078" y="520173"/>
                </a:lnTo>
                <a:lnTo>
                  <a:pt x="1750894" y="526276"/>
                </a:lnTo>
                <a:lnTo>
                  <a:pt x="1747355" y="531869"/>
                </a:lnTo>
                <a:lnTo>
                  <a:pt x="1294300" y="1028431"/>
                </a:lnTo>
                <a:lnTo>
                  <a:pt x="1290373" y="1030239"/>
                </a:lnTo>
                <a:lnTo>
                  <a:pt x="893269" y="1039745"/>
                </a:lnTo>
                <a:close/>
              </a:path>
            </a:pathLst>
          </a:custGeom>
          <a:solidFill>
            <a:srgbClr val="179EE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13"/>
          <p:cNvSpPr/>
          <p:nvPr/>
        </p:nvSpPr>
        <p:spPr>
          <a:xfrm>
            <a:off x="6879506" y="3730444"/>
            <a:ext cx="1136442" cy="1040130"/>
          </a:xfrm>
          <a:custGeom>
            <a:avLst/>
            <a:gdLst/>
            <a:ahLst/>
            <a:cxnLst/>
            <a:rect l="l" t="t" r="r" b="b"/>
            <a:pathLst>
              <a:path w="1752600" h="1040130">
                <a:moveTo>
                  <a:pt x="893269" y="1039745"/>
                </a:moveTo>
                <a:lnTo>
                  <a:pt x="887359" y="1039745"/>
                </a:lnTo>
                <a:lnTo>
                  <a:pt x="882251" y="1036690"/>
                </a:lnTo>
                <a:lnTo>
                  <a:pt x="879607" y="1031787"/>
                </a:lnTo>
                <a:lnTo>
                  <a:pt x="876903" y="1026682"/>
                </a:lnTo>
                <a:lnTo>
                  <a:pt x="877243" y="1020633"/>
                </a:lnTo>
                <a:lnTo>
                  <a:pt x="1065889" y="748459"/>
                </a:lnTo>
                <a:lnTo>
                  <a:pt x="16526" y="764736"/>
                </a:lnTo>
                <a:lnTo>
                  <a:pt x="10136" y="764636"/>
                </a:lnTo>
                <a:lnTo>
                  <a:pt x="4867" y="761180"/>
                </a:lnTo>
                <a:lnTo>
                  <a:pt x="0" y="750147"/>
                </a:lnTo>
                <a:lnTo>
                  <a:pt x="1081" y="743656"/>
                </a:lnTo>
                <a:lnTo>
                  <a:pt x="208578" y="520153"/>
                </a:lnTo>
                <a:lnTo>
                  <a:pt x="1101" y="296630"/>
                </a:lnTo>
                <a:lnTo>
                  <a:pt x="20" y="290159"/>
                </a:lnTo>
                <a:lnTo>
                  <a:pt x="4807" y="279288"/>
                </a:lnTo>
                <a:lnTo>
                  <a:pt x="9996" y="275831"/>
                </a:lnTo>
                <a:lnTo>
                  <a:pt x="15965" y="275570"/>
                </a:lnTo>
                <a:lnTo>
                  <a:pt x="1065909" y="291847"/>
                </a:lnTo>
                <a:lnTo>
                  <a:pt x="877263" y="19673"/>
                </a:lnTo>
                <a:lnTo>
                  <a:pt x="876903" y="13604"/>
                </a:lnTo>
                <a:lnTo>
                  <a:pt x="882512" y="3175"/>
                </a:lnTo>
                <a:lnTo>
                  <a:pt x="888041" y="0"/>
                </a:lnTo>
                <a:lnTo>
                  <a:pt x="893990" y="602"/>
                </a:lnTo>
                <a:lnTo>
                  <a:pt x="1290394" y="10087"/>
                </a:lnTo>
                <a:lnTo>
                  <a:pt x="1294320" y="11896"/>
                </a:lnTo>
                <a:lnTo>
                  <a:pt x="1747395" y="508478"/>
                </a:lnTo>
                <a:lnTo>
                  <a:pt x="1750910" y="514071"/>
                </a:lnTo>
                <a:lnTo>
                  <a:pt x="1752078" y="520173"/>
                </a:lnTo>
                <a:lnTo>
                  <a:pt x="1750894" y="526276"/>
                </a:lnTo>
                <a:lnTo>
                  <a:pt x="1747355" y="531869"/>
                </a:lnTo>
                <a:lnTo>
                  <a:pt x="1294300" y="1028431"/>
                </a:lnTo>
                <a:lnTo>
                  <a:pt x="1290373" y="1030239"/>
                </a:lnTo>
                <a:lnTo>
                  <a:pt x="893269" y="1039745"/>
                </a:lnTo>
                <a:close/>
              </a:path>
            </a:pathLst>
          </a:custGeom>
          <a:solidFill>
            <a:srgbClr val="179EE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13"/>
          <p:cNvSpPr/>
          <p:nvPr/>
        </p:nvSpPr>
        <p:spPr>
          <a:xfrm>
            <a:off x="6856300" y="2489268"/>
            <a:ext cx="1133235" cy="1040130"/>
          </a:xfrm>
          <a:custGeom>
            <a:avLst/>
            <a:gdLst/>
            <a:ahLst/>
            <a:cxnLst/>
            <a:rect l="l" t="t" r="r" b="b"/>
            <a:pathLst>
              <a:path w="1752600" h="1040130">
                <a:moveTo>
                  <a:pt x="893269" y="1039745"/>
                </a:moveTo>
                <a:lnTo>
                  <a:pt x="887359" y="1039745"/>
                </a:lnTo>
                <a:lnTo>
                  <a:pt x="882251" y="1036690"/>
                </a:lnTo>
                <a:lnTo>
                  <a:pt x="879607" y="1031787"/>
                </a:lnTo>
                <a:lnTo>
                  <a:pt x="876903" y="1026682"/>
                </a:lnTo>
                <a:lnTo>
                  <a:pt x="877243" y="1020633"/>
                </a:lnTo>
                <a:lnTo>
                  <a:pt x="1065889" y="748459"/>
                </a:lnTo>
                <a:lnTo>
                  <a:pt x="16526" y="764736"/>
                </a:lnTo>
                <a:lnTo>
                  <a:pt x="10136" y="764636"/>
                </a:lnTo>
                <a:lnTo>
                  <a:pt x="4867" y="761180"/>
                </a:lnTo>
                <a:lnTo>
                  <a:pt x="0" y="750147"/>
                </a:lnTo>
                <a:lnTo>
                  <a:pt x="1081" y="743656"/>
                </a:lnTo>
                <a:lnTo>
                  <a:pt x="208578" y="520153"/>
                </a:lnTo>
                <a:lnTo>
                  <a:pt x="1101" y="296630"/>
                </a:lnTo>
                <a:lnTo>
                  <a:pt x="20" y="290159"/>
                </a:lnTo>
                <a:lnTo>
                  <a:pt x="4807" y="279288"/>
                </a:lnTo>
                <a:lnTo>
                  <a:pt x="9996" y="275831"/>
                </a:lnTo>
                <a:lnTo>
                  <a:pt x="15965" y="275570"/>
                </a:lnTo>
                <a:lnTo>
                  <a:pt x="1065909" y="291847"/>
                </a:lnTo>
                <a:lnTo>
                  <a:pt x="877263" y="19673"/>
                </a:lnTo>
                <a:lnTo>
                  <a:pt x="876903" y="13604"/>
                </a:lnTo>
                <a:lnTo>
                  <a:pt x="882512" y="3175"/>
                </a:lnTo>
                <a:lnTo>
                  <a:pt x="888041" y="0"/>
                </a:lnTo>
                <a:lnTo>
                  <a:pt x="893990" y="602"/>
                </a:lnTo>
                <a:lnTo>
                  <a:pt x="1290394" y="10087"/>
                </a:lnTo>
                <a:lnTo>
                  <a:pt x="1294320" y="11896"/>
                </a:lnTo>
                <a:lnTo>
                  <a:pt x="1747395" y="508478"/>
                </a:lnTo>
                <a:lnTo>
                  <a:pt x="1750910" y="514071"/>
                </a:lnTo>
                <a:lnTo>
                  <a:pt x="1752078" y="520173"/>
                </a:lnTo>
                <a:lnTo>
                  <a:pt x="1750894" y="526276"/>
                </a:lnTo>
                <a:lnTo>
                  <a:pt x="1747355" y="531869"/>
                </a:lnTo>
                <a:lnTo>
                  <a:pt x="1294300" y="1028431"/>
                </a:lnTo>
                <a:lnTo>
                  <a:pt x="1290373" y="1030239"/>
                </a:lnTo>
                <a:lnTo>
                  <a:pt x="893269" y="1039745"/>
                </a:lnTo>
                <a:close/>
              </a:path>
            </a:pathLst>
          </a:custGeom>
          <a:solidFill>
            <a:srgbClr val="179EE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13"/>
          <p:cNvSpPr/>
          <p:nvPr/>
        </p:nvSpPr>
        <p:spPr>
          <a:xfrm>
            <a:off x="6935393" y="5040258"/>
            <a:ext cx="1040315" cy="1114745"/>
          </a:xfrm>
          <a:custGeom>
            <a:avLst/>
            <a:gdLst/>
            <a:ahLst/>
            <a:cxnLst/>
            <a:rect l="l" t="t" r="r" b="b"/>
            <a:pathLst>
              <a:path w="1752600" h="1040130">
                <a:moveTo>
                  <a:pt x="893269" y="1039745"/>
                </a:moveTo>
                <a:lnTo>
                  <a:pt x="887359" y="1039745"/>
                </a:lnTo>
                <a:lnTo>
                  <a:pt x="882251" y="1036690"/>
                </a:lnTo>
                <a:lnTo>
                  <a:pt x="879607" y="1031787"/>
                </a:lnTo>
                <a:lnTo>
                  <a:pt x="876903" y="1026682"/>
                </a:lnTo>
                <a:lnTo>
                  <a:pt x="877243" y="1020633"/>
                </a:lnTo>
                <a:lnTo>
                  <a:pt x="1065889" y="748459"/>
                </a:lnTo>
                <a:lnTo>
                  <a:pt x="16526" y="764736"/>
                </a:lnTo>
                <a:lnTo>
                  <a:pt x="10136" y="764636"/>
                </a:lnTo>
                <a:lnTo>
                  <a:pt x="4867" y="761180"/>
                </a:lnTo>
                <a:lnTo>
                  <a:pt x="0" y="750147"/>
                </a:lnTo>
                <a:lnTo>
                  <a:pt x="1081" y="743656"/>
                </a:lnTo>
                <a:lnTo>
                  <a:pt x="208578" y="520153"/>
                </a:lnTo>
                <a:lnTo>
                  <a:pt x="1101" y="296630"/>
                </a:lnTo>
                <a:lnTo>
                  <a:pt x="20" y="290159"/>
                </a:lnTo>
                <a:lnTo>
                  <a:pt x="4807" y="279288"/>
                </a:lnTo>
                <a:lnTo>
                  <a:pt x="9996" y="275831"/>
                </a:lnTo>
                <a:lnTo>
                  <a:pt x="15965" y="275570"/>
                </a:lnTo>
                <a:lnTo>
                  <a:pt x="1065909" y="291847"/>
                </a:lnTo>
                <a:lnTo>
                  <a:pt x="877263" y="19673"/>
                </a:lnTo>
                <a:lnTo>
                  <a:pt x="876903" y="13604"/>
                </a:lnTo>
                <a:lnTo>
                  <a:pt x="882512" y="3175"/>
                </a:lnTo>
                <a:lnTo>
                  <a:pt x="888041" y="0"/>
                </a:lnTo>
                <a:lnTo>
                  <a:pt x="893990" y="602"/>
                </a:lnTo>
                <a:lnTo>
                  <a:pt x="1290394" y="10087"/>
                </a:lnTo>
                <a:lnTo>
                  <a:pt x="1294320" y="11896"/>
                </a:lnTo>
                <a:lnTo>
                  <a:pt x="1747395" y="508478"/>
                </a:lnTo>
                <a:lnTo>
                  <a:pt x="1750910" y="514071"/>
                </a:lnTo>
                <a:lnTo>
                  <a:pt x="1752078" y="520173"/>
                </a:lnTo>
                <a:lnTo>
                  <a:pt x="1750894" y="526276"/>
                </a:lnTo>
                <a:lnTo>
                  <a:pt x="1747355" y="531869"/>
                </a:lnTo>
                <a:lnTo>
                  <a:pt x="1294300" y="1028431"/>
                </a:lnTo>
                <a:lnTo>
                  <a:pt x="1290373" y="1030239"/>
                </a:lnTo>
                <a:lnTo>
                  <a:pt x="893269" y="1039745"/>
                </a:lnTo>
                <a:close/>
              </a:path>
            </a:pathLst>
          </a:custGeom>
          <a:solidFill>
            <a:srgbClr val="179EE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Rectangle: Rounded Corners 54"/>
          <p:cNvSpPr/>
          <p:nvPr/>
        </p:nvSpPr>
        <p:spPr>
          <a:xfrm>
            <a:off x="8073206" y="1112962"/>
            <a:ext cx="3837884" cy="1146905"/>
          </a:xfrm>
          <a:prstGeom prst="roundRect">
            <a:avLst/>
          </a:prstGeom>
          <a:solidFill>
            <a:schemeClr val="bg1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32D3C"/>
                </a:solidFill>
              </a:rPr>
              <a:t>Source brief defining the field drug-testing digitisation requirement.</a:t>
            </a:r>
            <a:endParaRPr lang="en-IN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39B0D4"/>
              </a:highlight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8035146" y="2536410"/>
            <a:ext cx="3859684" cy="1078820"/>
          </a:xfrm>
          <a:prstGeom prst="roundRect">
            <a:avLst/>
          </a:prstGeom>
          <a:solidFill>
            <a:schemeClr val="bg1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32D3C"/>
                </a:solidFill>
              </a:rPr>
              <a:t>Organization and department specified for the problem statement.</a:t>
            </a:r>
            <a:endParaRPr lang="en-IN" dirty="0">
              <a:ln w="0"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8132650" y="3761678"/>
            <a:ext cx="3859684" cy="1078820"/>
          </a:xfrm>
          <a:prstGeom prst="roundRect">
            <a:avLst/>
          </a:prstGeom>
          <a:solidFill>
            <a:schemeClr val="bg1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32D3C"/>
                </a:solidFill>
              </a:rPr>
              <a:t>Core prototype requirements specified by the challenge.</a:t>
            </a:r>
            <a:endParaRPr lang="en-IN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Rectangle: Rounded Corners 60"/>
          <p:cNvSpPr/>
          <p:nvPr/>
        </p:nvSpPr>
        <p:spPr>
          <a:xfrm>
            <a:off x="8073206" y="5124588"/>
            <a:ext cx="3859684" cy="1043521"/>
          </a:xfrm>
          <a:prstGeom prst="roundRect">
            <a:avLst/>
          </a:prstGeom>
          <a:solidFill>
            <a:schemeClr val="bg1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32D3C"/>
                </a:solidFill>
              </a:rPr>
              <a:t>Explicit scope limitation stated in the challenge description.</a:t>
            </a:r>
            <a:endParaRPr lang="en-IN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2510</Words>
  <Application>WPS Presentation</Application>
  <PresentationFormat>Widescreen</PresentationFormat>
  <Paragraphs>112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Wingdings</vt:lpstr>
      <vt:lpstr>Calibri</vt:lpstr>
      <vt:lpstr>Arial MT</vt:lpstr>
      <vt:lpstr>Microsoft YaHei</vt:lpstr>
      <vt:lpstr>Arial Unicode MS</vt:lpstr>
      <vt:lpstr>Office Theme</vt:lpstr>
      <vt:lpstr>SMART INDIA HACKATHON 2026</vt:lpstr>
      <vt:lpstr>Digital Companion for Field Drug Testing</vt:lpstr>
      <vt:lpstr>TECHNICAL APPROACH</vt:lpstr>
      <vt:lpstr>FEASIBILITY AND VIABILITY</vt:lpstr>
      <vt:lpstr>IMPACT AND BENEFITS</vt:lpstr>
      <vt:lpstr>RESEARCH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raajasree srinivassan</cp:lastModifiedBy>
  <cp:revision>171</cp:revision>
  <dcterms:created xsi:type="dcterms:W3CDTF">2013-12-12T18:46:00Z</dcterms:created>
  <dcterms:modified xsi:type="dcterms:W3CDTF">2026-09-29T13:10:58Z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BDD62649B94144DFAC7523162E8F2521_13</vt:lpwstr>
  </property>
</Properties>
</file>